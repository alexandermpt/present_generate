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/>
            </a:pPr>
            <a:r>
              <a:t>Интеграция сервисов Mail</a:t>
            </a:r>
          </a:p>
          <a:p>
            <a:r>
              <a:t>в VK Мессенджер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Потенциал аудитории, прогноз выручки и MVP</a:t>
            </a:r>
          </a:p>
          <a:p>
            <a:r>
              <a:t>Анализ на основе данных VK, март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3A5C"/>
                </a:solidFill>
              </a:defRPr>
            </a:pPr>
            <a:r>
              <a:t>Какие сервисы Mail запускаем первыми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 b="1"/>
            </a:pPr>
            <a:r>
              <a:t>🔹 6 продуктов: Почта, Облако, Задачи, Календарь, Заметки, VK Звонки</a:t>
            </a:r>
          </a:p>
          <a:p>
            <a:pPr>
              <a:spcAft>
                <a:spcPts val="800"/>
              </a:spcAft>
              <a:defRPr sz="1800" b="1"/>
            </a:pPr>
            <a:r>
              <a:t>✔ Первый эшелон (минимальный порог входа):</a:t>
            </a:r>
          </a:p>
          <a:p>
            <a:pPr>
              <a:spcAft>
                <a:spcPts val="800"/>
              </a:spcAft>
              <a:defRPr sz="1800"/>
            </a:pPr>
            <a:r>
              <a:t>   • Задачи — виджет в чате, создание из сообщения</a:t>
            </a:r>
          </a:p>
          <a:p>
            <a:pPr>
              <a:spcAft>
                <a:spcPts val="800"/>
              </a:spcAft>
              <a:defRPr sz="1800"/>
            </a:pPr>
            <a:r>
              <a:t>   • Календарь — встречи прямо из переписки</a:t>
            </a:r>
          </a:p>
          <a:p>
            <a:pPr>
              <a:spcAft>
                <a:spcPts val="800"/>
              </a:spcAft>
              <a:defRPr sz="1800"/>
            </a:pPr>
            <a:r>
              <a:t>   • Заметки — аналог «Избранного» Telegram</a:t>
            </a:r>
          </a:p>
          <a:p>
            <a:pPr>
              <a:spcAft>
                <a:spcPts val="800"/>
              </a:spcAft>
              <a:defRPr sz="1800"/>
            </a:pPr>
            <a:r>
              <a:t>   • VK Звонки — расширение текущих звонков</a:t>
            </a:r>
          </a:p>
          <a:p>
            <a:pPr>
              <a:spcAft>
                <a:spcPts val="800"/>
              </a:spcAft>
              <a:defRPr sz="1800" b="1"/>
            </a:pPr>
            <a:r>
              <a:t>✔ Второй эшелон: Облако (выгодные тарифы, но сложнее внедрить)</a:t>
            </a:r>
          </a:p>
          <a:p>
            <a:pPr>
              <a:spcAft>
                <a:spcPts val="800"/>
              </a:spcAft>
              <a:defRPr sz="1800" b="1"/>
            </a:pPr>
            <a:r>
              <a:t>✔ Третий эшелон: Почта (слишком громоздкий функционал)</a:t>
            </a:r>
          </a:p>
          <a:p>
            <a:pPr>
              <a:spcAft>
                <a:spcPts val="800"/>
              </a:spcAft>
              <a:defRPr sz="1400" i="1">
                <a:solidFill>
                  <a:srgbClr val="666666"/>
                </a:solidFill>
              </a:defRPr>
            </a:pPr>
            <a:r>
              <a:t>Почему: привычные паттерны, быстрое влияние на retention и DAU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3A5C"/>
                </a:solidFill>
              </a:defRPr>
            </a:pPr>
            <a:r>
              <a:t>Потенциальная аудитория и годовая выручка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 b="1"/>
            </a:pPr>
            <a:r>
              <a:t>🔹 Исходные данные:</a:t>
            </a:r>
          </a:p>
          <a:p>
            <a:pPr>
              <a:spcAft>
                <a:spcPts val="800"/>
              </a:spcAft>
              <a:defRPr sz="1800"/>
            </a:pPr>
            <a:r>
              <a:t>   • MAU VK MAX = 107 млн</a:t>
            </a:r>
          </a:p>
          <a:p>
            <a:pPr>
              <a:spcAft>
                <a:spcPts val="800"/>
              </a:spcAft>
              <a:defRPr sz="1800"/>
            </a:pPr>
            <a:r>
              <a:t>   • ARPU продукта ≈ 570 ₽/год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 b="1"/>
            </a:pPr>
            <a:r>
              <a:t>🔹 Расчёт по продуктам:</a:t>
            </a:r>
          </a:p>
          <a:p>
            <a:pPr>
              <a:spcAft>
                <a:spcPts val="800"/>
              </a:spcAft>
              <a:defRPr sz="1800"/>
            </a:pPr>
            <a:r>
              <a:t>   • Задачи     (20%): 21,4 млн чел. → 12,2 млрд ₽/год</a:t>
            </a:r>
          </a:p>
          <a:p>
            <a:pPr>
              <a:spcAft>
                <a:spcPts val="800"/>
              </a:spcAft>
              <a:defRPr sz="1800"/>
            </a:pPr>
            <a:r>
              <a:t>   • Календарь  (25%): 26,75 млн чел. → 15,2 млрд ₽/год</a:t>
            </a:r>
          </a:p>
          <a:p>
            <a:pPr>
              <a:spcAft>
                <a:spcPts val="800"/>
              </a:spcAft>
              <a:defRPr sz="1800"/>
            </a:pPr>
            <a:r>
              <a:t>   • Заметки    (20%): 21,4 млн чел. → 12,2 млрд ₽/год</a:t>
            </a:r>
          </a:p>
          <a:p>
            <a:pPr>
              <a:spcAft>
                <a:spcPts val="800"/>
              </a:spcAft>
              <a:defRPr sz="1800"/>
            </a:pPr>
            <a:r>
              <a:t>   • VK Звонки  (50%): 53,5 млн чел. → 30,5 млрд ₽/год</a:t>
            </a:r>
          </a:p>
          <a:p>
            <a:pPr>
              <a:spcAft>
                <a:spcPts val="800"/>
              </a:spcAft>
              <a:defRPr sz="1800"/>
            </a:pPr>
            <a:r>
              <a:t>   • Облако     (30%): 32,1 млн чел. → 18,3 млрд ₽/год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 b="1"/>
            </a:pPr>
            <a:r>
              <a:t>👉 Суммарный потенциал – более 88 млрд ₽/год</a:t>
            </a:r>
          </a:p>
          <a:p>
            <a:pPr>
              <a:spcAft>
                <a:spcPts val="800"/>
              </a:spcAft>
              <a:defRPr sz="1400" i="1">
                <a:solidFill>
                  <a:srgbClr val="666666"/>
                </a:solidFill>
              </a:defRPr>
            </a:pPr>
            <a:r>
              <a:t>Первыми внедряем Задачи + Заметки (низкая сложность, быстрый эффект)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3A5C"/>
                </a:solidFill>
              </a:defRPr>
            </a:pPr>
            <a:r>
              <a:t>Конкурентный ландшафт (Россия)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 b="1"/>
            </a:pPr>
            <a:r>
              <a:t>🔹 Ключевые конкуренты: Telegram, ТамТам, TenChat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 b="1"/>
            </a:pPr>
            <a:r>
              <a:t>✔ Базовые функции (чаты, звонки, боты, группы) – у всех ✅</a:t>
            </a:r>
          </a:p>
          <a:p>
            <a:pPr>
              <a:spcAft>
                <a:spcPts val="800"/>
              </a:spcAft>
              <a:defRPr sz="1800" b="1"/>
            </a:pPr>
            <a:r>
              <a:t>✔ Кошелёк / переводы – есть у MAX и Telegram, у остальных ❌</a:t>
            </a:r>
          </a:p>
          <a:p>
            <a:pPr>
              <a:spcAft>
                <a:spcPts val="800"/>
              </a:spcAft>
              <a:defRPr sz="1800" b="1"/>
            </a:pPr>
            <a:r>
              <a:t>✔ Избранное (заметки) – у MAX, Telegram, TenChat (ТамТам ❌)</a:t>
            </a:r>
          </a:p>
          <a:p>
            <a:pPr>
              <a:spcAft>
                <a:spcPts val="800"/>
              </a:spcAft>
              <a:defRPr sz="1800" b="1"/>
            </a:pPr>
            <a:r>
              <a:t>✔ Вложенные каналы – только у MAX и Telegram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 b="1"/>
            </a:pPr>
            <a:r>
              <a:t>👉 Уникальное преимущество MAX:</a:t>
            </a:r>
          </a:p>
          <a:p>
            <a:pPr>
              <a:spcAft>
                <a:spcPts val="800"/>
              </a:spcAft>
              <a:defRPr sz="1800"/>
            </a:pPr>
            <a:r>
              <a:t>   • Глубокая интеграция Задач, Календаря, Облака прямо в мессенджер</a:t>
            </a:r>
          </a:p>
          <a:p>
            <a:pPr>
              <a:spcAft>
                <a:spcPts val="800"/>
              </a:spcAft>
              <a:defRPr sz="1800"/>
            </a:pPr>
            <a:r>
              <a:t>   • Этого нет ни у одного конкурента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3A5C"/>
                </a:solidFill>
              </a:defRPr>
            </a:pPr>
            <a:r>
              <a:t>Ключевые гипотезы роста и методы проверки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 b="1"/>
            </a:pPr>
            <a:r>
              <a:t>🔹 Высокий приоритет:</a:t>
            </a:r>
          </a:p>
          <a:p>
            <a:pPr>
              <a:spcAft>
                <a:spcPts val="800"/>
              </a:spcAft>
              <a:defRPr sz="1800"/>
            </a:pPr>
            <a:r>
              <a:t>   • Заметки + Задачи → +5% retention, +20% DAU</a:t>
            </a:r>
          </a:p>
          <a:p>
            <a:pPr>
              <a:spcAft>
                <a:spcPts val="800"/>
              </a:spcAft>
              <a:defRPr sz="1800"/>
            </a:pPr>
            <a:r>
              <a:t>   • Календарь → +10 пунктов scroll depth</a:t>
            </a:r>
          </a:p>
          <a:p>
            <a:pPr>
              <a:spcAft>
                <a:spcPts val="800"/>
              </a:spcAft>
              <a:defRPr sz="1800"/>
            </a:pPr>
            <a:r>
              <a:t>   • VK Звонки → +5% ежедневный retention</a:t>
            </a:r>
          </a:p>
          <a:p>
            <a:pPr>
              <a:spcAft>
                <a:spcPts val="800"/>
              </a:spcAft>
              <a:defRPr sz="1800"/>
            </a:pPr>
            <a:r>
              <a:t>   ✔ Проверка: A/B-тест 2 недели (50/50%)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 b="1"/>
            </a:pPr>
            <a:r>
              <a:t>🔹 Discovery до разработки:</a:t>
            </a:r>
          </a:p>
          <a:p>
            <a:pPr>
              <a:spcAft>
                <a:spcPts val="800"/>
              </a:spcAft>
              <a:defRPr sz="1800"/>
            </a:pPr>
            <a:r>
              <a:t>   • Кастдев-интервью 10–15 пользователей</a:t>
            </a:r>
          </a:p>
          <a:p>
            <a:pPr>
              <a:spcAft>
                <a:spcPts val="800"/>
              </a:spcAft>
              <a:defRPr sz="1800"/>
            </a:pPr>
            <a:r>
              <a:t>   • Всплывающий опрос для 1000+ активных</a:t>
            </a:r>
          </a:p>
          <a:p>
            <a:pPr>
              <a:spcAft>
                <a:spcPts val="800"/>
              </a:spcAft>
              <a:defRPr sz="1800"/>
            </a:pPr>
            <a:r>
              <a:t>   • Аналитика точек выхода из приложения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B3A5C"/>
                </a:solidFill>
              </a:defRPr>
            </a:pPr>
            <a:r>
              <a:t>MVP: Заметки + Задачи как единый виджет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 b="1"/>
            </a:pPr>
            <a:r>
              <a:t>👉 Первый релиз — виджет внутри чата:</a:t>
            </a:r>
          </a:p>
          <a:p>
            <a:pPr>
              <a:spcAft>
                <a:spcPts val="800"/>
              </a:spcAft>
              <a:defRPr sz="1800"/>
            </a:pPr>
            <a:r>
              <a:t>   • Создание заметки/задачи из сообщения (одна кнопка)</a:t>
            </a:r>
          </a:p>
          <a:p>
            <a:pPr>
              <a:spcAft>
                <a:spcPts val="800"/>
              </a:spcAft>
              <a:defRPr sz="1800"/>
            </a:pPr>
            <a:r>
              <a:t>   • Дедлайн и напоминание</a:t>
            </a:r>
          </a:p>
          <a:p>
            <a:pPr>
              <a:spcAft>
                <a:spcPts val="800"/>
              </a:spcAft>
              <a:defRPr sz="1800"/>
            </a:pPr>
            <a:r>
              <a:t>   • Вкладка «Все задачи»</a:t>
            </a:r>
          </a:p>
          <a:p>
            <a:pPr>
              <a:spcAft>
                <a:spcPts val="800"/>
              </a:spcAft>
              <a:defRPr sz="1800"/>
            </a:pPr>
            <a:r>
              <a:t>   • Отправка задачи другому пользователю в чате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 b="1"/>
            </a:pPr>
            <a:r>
              <a:t>✔ Почему они:</a:t>
            </a:r>
          </a:p>
          <a:p>
            <a:pPr>
              <a:spcAft>
                <a:spcPts val="800"/>
              </a:spcAft>
              <a:defRPr sz="1800"/>
            </a:pPr>
            <a:r>
              <a:t>   • Минимальная сложность разработки</a:t>
            </a:r>
          </a:p>
          <a:p>
            <a:pPr>
              <a:spcAft>
                <a:spcPts val="800"/>
              </a:spcAft>
              <a:defRPr sz="1800"/>
            </a:pPr>
            <a:r>
              <a:t>   • Нет отдельной авторизации</a:t>
            </a:r>
          </a:p>
          <a:p>
            <a:pPr>
              <a:spcAft>
                <a:spcPts val="800"/>
              </a:spcAft>
              <a:defRPr sz="1800"/>
            </a:pPr>
            <a:r>
              <a:t>   • Закрывают главную боль: закреплённые сообщения вместо заметок</a:t>
            </a:r>
          </a:p>
          <a:p>
            <a:pPr>
              <a:spcAft>
                <a:spcPts val="800"/>
              </a:spcAft>
              <a:defRPr sz="1800"/>
            </a:pPr>
            <a:r>
              <a:t>   • Быстро измеряемый эффект на retention</a:t>
            </a:r>
          </a:p>
          <a:p>
            <a:pPr>
              <a:spcAft>
                <a:spcPts val="800"/>
              </a:spcAft>
              <a:defRPr sz="1800"/>
            </a:pPr>
          </a:p>
          <a:p>
            <a:pPr>
              <a:spcAft>
                <a:spcPts val="800"/>
              </a:spcAft>
              <a:defRPr sz="1800"/>
            </a:pPr>
            <a:r>
              <a:t>После проверки гипотез → Добавляем Календарь и VK Звонки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