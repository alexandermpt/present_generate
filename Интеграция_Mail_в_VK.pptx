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371600"/>
            <a:ext cx="10972800" cy="1828800"/>
          </a:xfrm>
          <a:prstGeom prst="rect">
            <a:avLst/>
          </a:prstGeom>
          <a:solidFill>
            <a:srgbClr val="0D1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 bIns="365760"/>
          <a:lstStyle/>
          <a:p>
            <a:pPr algn="l">
              <a:defRPr sz="5200" b="1">
                <a:solidFill>
                  <a:srgbClr val="FFFFFF"/>
                </a:solidFill>
              </a:defRPr>
            </a:pPr>
            <a:r>
              <a:t>Интеграция сервисов Mail в VK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2926080"/>
            <a:ext cx="10972800" cy="914400"/>
          </a:xfrm>
          <a:prstGeom prst="rect">
            <a:avLst/>
          </a:prstGeom>
          <a:solidFill>
            <a:srgbClr val="0D1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 bIns="365760"/>
          <a:lstStyle/>
          <a:p>
            <a:pPr algn="l">
              <a:defRPr sz="2400" b="0">
                <a:solidFill>
                  <a:srgbClr val="CCDDEE"/>
                </a:solidFill>
              </a:defRPr>
            </a:pPr>
            <a:r>
              <a:t>Потенциал аудитории, финансовая модель и MVP внедрения</a:t>
            </a:r>
          </a:p>
        </p:txBody>
      </p:sp>
      <p:sp>
        <p:nvSpPr>
          <p:cNvPr id="4" name="Oval 3"/>
          <p:cNvSpPr/>
          <p:nvPr/>
        </p:nvSpPr>
        <p:spPr>
          <a:xfrm>
            <a:off x="9601200" y="457200"/>
            <a:ext cx="2286000" cy="2286000"/>
          </a:xfrm>
          <a:prstGeom prst="ellipse">
            <a:avLst/>
          </a:prstGeom>
          <a:solidFill>
            <a:srgbClr val="1D3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0" y="914400"/>
            <a:ext cx="1371600" cy="1371600"/>
          </a:xfrm>
          <a:prstGeom prst="ellipse">
            <a:avLst/>
          </a:prstGeom>
          <a:solidFill>
            <a:srgbClr val="277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32720" y="1005840"/>
            <a:ext cx="137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VK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3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828800"/>
            <a:ext cx="10972800" cy="3520440"/>
          </a:xfrm>
          <a:prstGeom prst="rect">
            <a:avLst/>
          </a:prstGeom>
          <a:solidFill>
            <a:srgbClr val="F0F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defRPr sz="4000" b="1">
                <a:solidFill>
                  <a:srgbClr val="1C2A45"/>
                </a:solidFill>
              </a:defRPr>
            </a:pPr>
            <a:r>
              <a:t>01 Контекст: Борьба за 'Липкость'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0515600" cy="731520"/>
          </a:xfrm>
          <a:prstGeom prst="rect">
            <a:avLst/>
          </a:prstGeom>
          <a:solidFill>
            <a:srgbClr val="277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NORTH STAR  •  DAU / MAU — Stickiness (Доля ежедневных пользователей)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560320"/>
            <a:ext cx="33832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560320"/>
            <a:ext cx="338328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defRPr sz="1600" b="1">
                <a:solidFill>
                  <a:srgbClr val="1C2A45"/>
                </a:solidFill>
              </a:defRPr>
            </a:pPr>
            <a:r>
              <a:t>🎯 Цель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108960"/>
            <a:ext cx="338328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defRPr sz="1600" b="0">
                <a:solidFill>
                  <a:srgbClr val="555B62"/>
                </a:solidFill>
              </a:defRPr>
            </a:pPr>
            <a:r>
              <a:t>Выявить ключевые барьеры, мешающие возвращаться в VK и взаимодействовать с контентом.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0" y="2560320"/>
            <a:ext cx="33832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297680" y="2560320"/>
            <a:ext cx="338328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defRPr sz="1600" b="1">
                <a:solidFill>
                  <a:srgbClr val="1C2A45"/>
                </a:solidFill>
              </a:defRPr>
            </a:pPr>
            <a:r>
              <a:t>📉 Важность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3108960"/>
            <a:ext cx="338328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defRPr sz="1600" b="0">
                <a:solidFill>
                  <a:srgbClr val="555B62"/>
                </a:solidFill>
              </a:defRPr>
            </a:pPr>
            <a:r>
              <a:t>Снижение DAU/MAU = падение рекламной выручки (меньше показов).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3840" y="2560320"/>
            <a:ext cx="33832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63840" y="2560320"/>
            <a:ext cx="338328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defRPr sz="1600" b="1">
                <a:solidFill>
                  <a:srgbClr val="1C2A45"/>
                </a:solidFill>
              </a:defRPr>
            </a:pPr>
            <a:r>
              <a:t>⚔️ Конкуренты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63840" y="3108960"/>
            <a:ext cx="338328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defRPr sz="1600" b="0">
                <a:solidFill>
                  <a:srgbClr val="555B62"/>
                </a:solidFill>
              </a:defRPr>
            </a:pPr>
            <a:r>
              <a:t>Удержание падает на фоне Telegram и YouTube. Их DAU/MAU растут.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3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972800" cy="914400"/>
          </a:xfrm>
          <a:prstGeom prst="rect">
            <a:avLst/>
          </a:prstGeom>
          <a:solidFill>
            <a:srgbClr val="F0F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defRPr sz="3800" b="1">
                <a:solidFill>
                  <a:srgbClr val="1C2A45"/>
                </a:solidFill>
              </a:defRPr>
            </a:pPr>
            <a:r>
              <a:t>02 Приоритетные сервисы Mail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50292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defRPr sz="1300" b="0">
                <a:solidFill>
                  <a:srgbClr val="555B62"/>
                </a:solidFill>
              </a:defRPr>
            </a:pPr>
            <a:r>
              <a:t>1 место • Задачи</a:t>
            </a:r>
            <a:br/>
            <a:r>
              <a:t>Виджет в чате. Создание из сообщения. Привычный паттерн.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017520"/>
            <a:ext cx="50292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defRPr sz="1300" b="0">
                <a:solidFill>
                  <a:srgbClr val="555B62"/>
                </a:solidFill>
              </a:defRPr>
            </a:pPr>
            <a:r>
              <a:t>1 место • Календарь</a:t>
            </a:r>
            <a:br/>
            <a:r>
              <a:t>Встречи прямо из переписки. Снижение когнитивной нагрузки.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389120"/>
            <a:ext cx="50292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defRPr sz="1300" b="0">
                <a:solidFill>
                  <a:srgbClr val="555B62"/>
                </a:solidFill>
              </a:defRPr>
            </a:pPr>
            <a:r>
              <a:t>1 место • Заметки</a:t>
            </a:r>
            <a:br/>
            <a:r>
              <a:t>Аналог 'Избранного'. 100+ млн пользователей.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645920"/>
            <a:ext cx="50292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defRPr sz="1300" b="0">
                <a:solidFill>
                  <a:srgbClr val="555B62"/>
                </a:solidFill>
              </a:defRPr>
            </a:pPr>
            <a:r>
              <a:t>1 место • VK Звонки</a:t>
            </a:r>
            <a:br/>
            <a:r>
              <a:t>Расширение текущих звонков. Без обучения.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3017520"/>
            <a:ext cx="50292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defRPr sz="1300" b="0">
                <a:solidFill>
                  <a:srgbClr val="555B62"/>
                </a:solidFill>
              </a:defRPr>
            </a:pPr>
            <a:r>
              <a:t>2 место • Облако</a:t>
            </a:r>
            <a:br/>
            <a:r>
              <a:t>Выгодные тарифы (≈10% дешевле) Яндекс/Google.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4389120"/>
            <a:ext cx="50292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defRPr sz="1300" b="0">
                <a:solidFill>
                  <a:srgbClr val="555B62"/>
                </a:solidFill>
              </a:defRPr>
            </a:pPr>
            <a:r>
              <a:t>3 место • Почта</a:t>
            </a:r>
            <a:br/>
            <a:r>
              <a:t>Сложный функционал, долгая интеграция.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3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972800" cy="914400"/>
          </a:xfrm>
          <a:prstGeom prst="rect">
            <a:avLst/>
          </a:prstGeom>
          <a:solidFill>
            <a:srgbClr val="F0F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defRPr sz="3800" b="1">
                <a:solidFill>
                  <a:srgbClr val="1C2A45"/>
                </a:solidFill>
              </a:defRPr>
            </a:pPr>
            <a:r>
              <a:t>03 Финансовый потенциал (Годовая выручка)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645920"/>
            <a:ext cx="91440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defRPr sz="1300" b="1">
                <a:solidFill>
                  <a:srgbClr val="555B62"/>
                </a:solidFill>
              </a:defRPr>
            </a:pPr>
            <a:r>
              <a:t>Задачи | PR: 20% | Аудитория: 21.4 млн | ARPU: 570 ₽/год | Выручка: 12.2 млрд ₽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2423160"/>
            <a:ext cx="91440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defRPr sz="1300" b="1">
                <a:solidFill>
                  <a:srgbClr val="555B62"/>
                </a:solidFill>
              </a:defRPr>
            </a:pPr>
            <a:r>
              <a:t>Календарь | PR: 25% | Аудитория: 26.75 млн | ARPU: 570 ₽/год | Выручка: 15.2 млрд ₽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200400"/>
            <a:ext cx="91440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defRPr sz="1300" b="1">
                <a:solidFill>
                  <a:srgbClr val="555B62"/>
                </a:solidFill>
              </a:defRPr>
            </a:pPr>
            <a:r>
              <a:t>Заметки | PR: 20% | Аудитория: 21.4 млн | ARPU: 570 ₽/год | Выручка: 12.2 млрд ₽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3977640"/>
            <a:ext cx="91440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defRPr sz="1300" b="1">
                <a:solidFill>
                  <a:srgbClr val="555B62"/>
                </a:solidFill>
              </a:defRPr>
            </a:pPr>
            <a:r>
              <a:t>VK Звонки | PR: 50% | Аудитория: 53.5 млн | ARPU: 570 ₽/год | Выручка: 30.5 млрд ₽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4754880"/>
            <a:ext cx="91440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defRPr sz="1300" b="1">
                <a:solidFill>
                  <a:srgbClr val="555B62"/>
                </a:solidFill>
              </a:defRPr>
            </a:pPr>
            <a:r>
              <a:t>Облако | PR: 30% | Аудитория: 32.1 млн | ARPU: 570 ₽/год | Выручка: 18.3 млрд ₽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5532120"/>
            <a:ext cx="9144000" cy="731520"/>
          </a:xfrm>
          <a:prstGeom prst="rect">
            <a:avLst/>
          </a:prstGeom>
          <a:solidFill>
            <a:srgbClr val="277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ИТОГО: 88.4 млрд руб./год (∑ всех сервисов)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3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972800" cy="914400"/>
          </a:xfrm>
          <a:prstGeom prst="rect">
            <a:avLst/>
          </a:prstGeom>
          <a:solidFill>
            <a:srgbClr val="F0F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defRPr sz="3800" b="1">
                <a:solidFill>
                  <a:srgbClr val="1C2A45"/>
                </a:solidFill>
              </a:defRPr>
            </a:pPr>
            <a:r>
              <a:t>04 Конкурентный анализ (Россия)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10515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defRPr sz="1300" b="0">
                <a:solidFill>
                  <a:srgbClr val="555B62"/>
                </a:solidFill>
              </a:defRPr>
            </a:pPr>
            <a:r>
              <a:t>Базовые чаты                         |  MAX: ✓ |  Telegram: ✓ |  TamTam: ✓ |  TenChat: ✓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286000"/>
            <a:ext cx="10515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defRPr sz="1300" b="0">
                <a:solidFill>
                  <a:srgbClr val="555B62"/>
                </a:solidFill>
              </a:defRPr>
            </a:pPr>
            <a:r>
              <a:t>Видеозвонки                          |  MAX: ✓ |  Telegram: ✓ |  TamTam: ✓ |  TenChat: ✓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926080"/>
            <a:ext cx="10515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defRPr sz="1300" b="0">
                <a:solidFill>
                  <a:srgbClr val="555B62"/>
                </a:solidFill>
              </a:defRPr>
            </a:pPr>
            <a:r>
              <a:t>Сторис                               |  MAX: ✓ |  Telegram: ✓ |  TamTam: ✓ |  TenChat: ✓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566160"/>
            <a:ext cx="10515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defRPr sz="1300" b="0">
                <a:solidFill>
                  <a:srgbClr val="555B62"/>
                </a:solidFill>
              </a:defRPr>
            </a:pPr>
            <a:r>
              <a:t>Приватные каналы                     |  MAX: ✓ |  Telegram: ✓ |  TamTam: ✗ |  TenChat: ✗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206240"/>
            <a:ext cx="10515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defRPr sz="1300" b="0">
                <a:solidFill>
                  <a:srgbClr val="555B62"/>
                </a:solidFill>
              </a:defRPr>
            </a:pPr>
            <a:r>
              <a:t>Кошелек/Переводы                     |  MAX: ✓ |  Telegram: ✓ |  TamTam: ✗ |  TenChat: ✗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846320"/>
            <a:ext cx="10515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defRPr sz="1300" b="0">
                <a:solidFill>
                  <a:srgbClr val="555B62"/>
                </a:solidFill>
              </a:defRPr>
            </a:pPr>
            <a:r>
              <a:t>Избранное                            |  MAX: ✓ |  Telegram: ✓ |  TamTam: ✗ |  TenChat: ✓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5486400"/>
            <a:ext cx="10515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defRPr sz="1300" b="0">
                <a:solidFill>
                  <a:srgbClr val="555B62"/>
                </a:solidFill>
              </a:defRPr>
            </a:pPr>
            <a:r>
              <a:t>Вложенные каналы                     |  MAX: ✓ |  Telegram: ✓ |  TamTam: ✗ |  TenChat: ✗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3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972800" cy="914400"/>
          </a:xfrm>
          <a:prstGeom prst="rect">
            <a:avLst/>
          </a:prstGeom>
          <a:solidFill>
            <a:srgbClr val="F0F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defRPr sz="3800" b="1">
                <a:solidFill>
                  <a:srgbClr val="1C2A45"/>
                </a:solidFill>
              </a:defRPr>
            </a:pPr>
            <a:r>
              <a:t>05 Гипотезы и метрики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347472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defRPr sz="1300" b="0">
                <a:solidFill>
                  <a:srgbClr val="555B62"/>
                </a:solidFill>
              </a:defRPr>
            </a:pPr>
            <a:r>
              <a:t>🔴 Высокий приоритет</a:t>
            </a:r>
            <a:br/>
            <a:br/>
            <a:r>
              <a:t>• Stories → +10% retention, -14% bounce</a:t>
            </a:r>
            <a:br/>
            <a:r>
              <a:t>• Календарь → +10% scroll depth</a:t>
            </a:r>
            <a:br/>
            <a:r>
              <a:t>• Заметки → +5% retention</a:t>
            </a:r>
            <a:br/>
            <a:r>
              <a:t>• Задачи → +20% DAU</a:t>
            </a:r>
            <a:br/>
            <a:r>
              <a:t>• VK Звонки → +5% retention</a:t>
            </a:r>
            <a:br/>
            <a:r>
              <a:t>Проверка: A/B тест (2 нед.) на 50%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0" y="1645920"/>
            <a:ext cx="347472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defRPr sz="1300" b="0">
                <a:solidFill>
                  <a:srgbClr val="555B62"/>
                </a:solidFill>
              </a:defRPr>
            </a:pPr>
            <a:r>
              <a:t>🟠 Средний приоритет</a:t>
            </a:r>
            <a:br/>
            <a:br/>
            <a:r>
              <a:t>• Создание ботов → +10-15% conversion</a:t>
            </a:r>
            <a:br/>
            <a:r>
              <a:t>• API Integration → +10% retention</a:t>
            </a:r>
            <a:br/>
            <a:r>
              <a:t>Проверка: Колич. опрос (500+) + анализ запросов.</a:t>
            </a:r>
          </a:p>
        </p:txBody>
      </p:sp>
      <p:sp>
        <p:nvSpPr>
          <p:cNvPr id="5" name="Rectangle 4"/>
          <p:cNvSpPr/>
          <p:nvPr/>
        </p:nvSpPr>
        <p:spPr>
          <a:xfrm>
            <a:off x="8046720" y="1645920"/>
            <a:ext cx="347472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defRPr sz="1300" b="0">
                <a:solidFill>
                  <a:srgbClr val="555B62"/>
                </a:solidFill>
              </a:defRPr>
            </a:pPr>
            <a:r>
              <a:t>🟢 Низкий приоритет</a:t>
            </a:r>
            <a:br/>
            <a:br/>
            <a:r>
              <a:t>• Приватные каналы → +8% retention, +12% DAU</a:t>
            </a:r>
            <a:br/>
            <a:r>
              <a:t>• Кошелек → +5% retention, +9% DAU</a:t>
            </a:r>
            <a:br/>
            <a:r>
              <a:t>Проверка: Глубинные интервью (10-15 продавцов)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3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972800" cy="914400"/>
          </a:xfrm>
          <a:prstGeom prst="rect">
            <a:avLst/>
          </a:prstGeom>
          <a:solidFill>
            <a:srgbClr val="F0F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defRPr sz="3800" b="1">
                <a:solidFill>
                  <a:srgbClr val="1C2A45"/>
                </a:solidFill>
              </a:defRPr>
            </a:pPr>
            <a:r>
              <a:t>06 MVP + Discovery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828800"/>
            <a:ext cx="50292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defRPr sz="1600" b="1">
                <a:solidFill>
                  <a:srgbClr val="555B62"/>
                </a:solidFill>
              </a:defRPr>
            </a:pPr>
            <a:r>
              <a:t>🔬 Discovery до этапа разработки:</a:t>
            </a:r>
            <a:br/>
            <a:br/>
            <a:r>
              <a:t>• Custdev (10-15 польз.)</a:t>
            </a:r>
            <a:br/>
            <a:r>
              <a:t>• Опрос внутри приложения (1000+)</a:t>
            </a:r>
            <a:br/>
            <a:r>
              <a:t>• Анализ точек выхода (Яндекс.Метрика)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0" y="1828800"/>
            <a:ext cx="50292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defRPr sz="1600" b="1">
                <a:solidFill>
                  <a:srgbClr val="555B62"/>
                </a:solidFill>
              </a:defRPr>
            </a:pPr>
            <a:r>
              <a:t>🚀 MVP: Заметки + Задачи как единый виджет в чате</a:t>
            </a:r>
            <a:br/>
            <a:br/>
            <a:r>
              <a:t>Почему: </a:t>
            </a:r>
            <a:br/>
            <a:r>
              <a:t>• Мин. сложность разработки</a:t>
            </a:r>
            <a:br/>
            <a:r>
              <a:t>• Закрывает боль 'закрепленных сообщений'</a:t>
            </a:r>
            <a:br/>
            <a:r>
              <a:t>• Быстрый эффект на retention</a:t>
            </a:r>
            <a:br/>
            <a:br/>
            <a:r>
              <a:t>Функционал: </a:t>
            </a:r>
            <a:br/>
            <a:r>
              <a:t>• Создание из сообщения</a:t>
            </a:r>
            <a:br/>
            <a:r>
              <a:t>• Дедлайн + напоминание</a:t>
            </a:r>
            <a:br/>
            <a:r>
              <a:t>• Вкладка 'Все задачи'</a:t>
            </a:r>
            <a:br/>
            <a:r>
              <a:t>• Шеринг в чате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3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972800" cy="914400"/>
          </a:xfrm>
          <a:prstGeom prst="rect">
            <a:avLst/>
          </a:prstGeom>
          <a:solidFill>
            <a:srgbClr val="F0F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defRPr sz="3800" b="1">
                <a:solidFill>
                  <a:srgbClr val="1C2A45"/>
                </a:solidFill>
              </a:defRPr>
            </a:pPr>
            <a:r>
              <a:t>07 Дорожная карта внедрения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1828800"/>
            <a:ext cx="8229600" cy="731520"/>
          </a:xfrm>
          <a:prstGeom prst="rect">
            <a:avLst/>
          </a:prstGeom>
          <a:solidFill>
            <a:srgbClr val="277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Wave 1 (0-3 мес.)  •  MVP</a:t>
            </a:r>
            <a:br/>
            <a:r>
              <a:t>Заметки + Задачи (виджет в чате)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3200400"/>
            <a:ext cx="8229600" cy="731520"/>
          </a:xfrm>
          <a:prstGeom prst="rect">
            <a:avLst/>
          </a:prstGeom>
          <a:solidFill>
            <a:srgbClr val="F4A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Wave 2 (3-6 мес.)  •  Расширение</a:t>
            </a:r>
            <a:br/>
            <a:r>
              <a:t>Календарь + VK Звонки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4572000"/>
            <a:ext cx="8229600" cy="731520"/>
          </a:xfrm>
          <a:prstGeom prst="rect">
            <a:avLst/>
          </a:prstGeom>
          <a:solidFill>
            <a:srgbClr val="3A8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Wave 3 (6-12 мес.)  •  Масштабирование</a:t>
            </a:r>
            <a:br/>
            <a:r>
              <a:t>Облако + Почта (фоново)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3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972800" cy="914400"/>
          </a:xfrm>
          <a:prstGeom prst="rect">
            <a:avLst/>
          </a:prstGeom>
          <a:solidFill>
            <a:srgbClr val="F0F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defRPr sz="3800" b="1">
                <a:solidFill>
                  <a:srgbClr val="1C2A45"/>
                </a:solidFill>
              </a:defRPr>
            </a:pPr>
            <a:r>
              <a:t>08 Риски и зависимости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828800"/>
            <a:ext cx="34747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defRPr sz="1400" b="0">
                <a:solidFill>
                  <a:srgbClr val="555B62"/>
                </a:solidFill>
              </a:defRPr>
            </a:pPr>
            <a:r>
              <a:t>🔴 Технические</a:t>
            </a:r>
            <a:br/>
            <a:br/>
            <a:r>
              <a:t>• Сложность интеграции Почты</a:t>
            </a:r>
            <a:br/>
            <a:r>
              <a:t>• Зависимость от API VK Мессенджер</a:t>
            </a:r>
            <a:br/>
            <a:r>
              <a:t>• Качество связи при звонках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0" y="1828800"/>
            <a:ext cx="34747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defRPr sz="1400" b="0">
                <a:solidFill>
                  <a:srgbClr val="555B62"/>
                </a:solidFill>
              </a:defRPr>
            </a:pPr>
            <a:r>
              <a:t>🟠 Рыночные</a:t>
            </a:r>
            <a:br/>
            <a:br/>
            <a:r>
              <a:t>• Высокая активность Telegram</a:t>
            </a:r>
            <a:br/>
            <a:r>
              <a:t>• Уход пользователей при технических сбоях</a:t>
            </a:r>
            <a:br/>
            <a:r>
              <a:t>• Низкий Penetration Rate у Облака</a:t>
            </a:r>
          </a:p>
        </p:txBody>
      </p:sp>
      <p:sp>
        <p:nvSpPr>
          <p:cNvPr id="5" name="Rectangle 4"/>
          <p:cNvSpPr/>
          <p:nvPr/>
        </p:nvSpPr>
        <p:spPr>
          <a:xfrm>
            <a:off x="8046720" y="1828800"/>
            <a:ext cx="34747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defRPr sz="1400" b="0">
                <a:solidFill>
                  <a:srgbClr val="555B62"/>
                </a:solidFill>
              </a:defRPr>
            </a:pPr>
            <a:r>
              <a:t>🟢 Организационные</a:t>
            </a:r>
            <a:br/>
            <a:br/>
            <a:r>
              <a:t>• Недостаток ресурсов разработки</a:t>
            </a:r>
            <a:br/>
            <a:r>
              <a:t>• Рассинхрон с командой VK MAX</a:t>
            </a:r>
            <a:br/>
            <a:r>
              <a:t>• Приоритеты других продуктов VK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828800"/>
            <a:ext cx="10515600" cy="3200400"/>
          </a:xfrm>
          <a:prstGeom prst="rect">
            <a:avLst/>
          </a:prstGeom>
          <a:solidFill>
            <a:srgbClr val="0D1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09 Итоги и следующий шаг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2743200"/>
            <a:ext cx="91440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defRPr sz="1800" b="1">
                <a:solidFill>
                  <a:srgbClr val="555B62"/>
                </a:solidFill>
              </a:defRPr>
            </a:pPr>
            <a:r>
              <a:t>💰 Потенциальная выручка от внедрения 5 сервисов &gt; 88 млрд руб./год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3474720"/>
            <a:ext cx="91440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defRPr sz="1800" b="1">
                <a:solidFill>
                  <a:srgbClr val="555B62"/>
                </a:solidFill>
              </a:defRPr>
            </a:pPr>
            <a:r>
              <a:t>🚀 MVP: Заметки + Задачи (закрывает боль 'закрепленных сообщений')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4206240"/>
            <a:ext cx="91440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defRPr sz="1800" b="1">
                <a:solidFill>
                  <a:srgbClr val="555B62"/>
                </a:solidFill>
              </a:defRPr>
            </a:pPr>
            <a:r>
              <a:t>📈 Дорожная карта на 12 месяцев: от MVP к масштабированию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4937760"/>
            <a:ext cx="91440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defRPr sz="1800" b="1">
                <a:solidFill>
                  <a:srgbClr val="555B62"/>
                </a:solidFill>
              </a:defRPr>
            </a:pPr>
            <a:r>
              <a:t>⚠️ Ключевой риск: конкуренция с Telegram и техническая сложность интеграции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5669280"/>
            <a:ext cx="91440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defRPr sz="1800" b="1">
                <a:solidFill>
                  <a:srgbClr val="555B62"/>
                </a:solidFill>
              </a:defRPr>
            </a:pPr>
            <a:r>
              <a:t>✅ Решение: запустить A/B тест и Custdev в ближайшие 2 недели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6858000"/>
            <a:ext cx="9144000" cy="731520"/>
          </a:xfrm>
          <a:prstGeom prst="rect">
            <a:avLst/>
          </a:prstGeom>
          <a:solidFill>
            <a:srgbClr val="277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👉 Рекомендация: Немедленный старт MVP (Заметки+Задачи), запуск A/B теста на 50%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